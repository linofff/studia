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6.xml" ContentType="application/vnd.openxmlformats-officedocument.presentationml.slide+xml"/>
  <Override PartName="/ppt/notesSlides/notesSlide30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2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 /><Relationship Id="rId42" Type="http://schemas.openxmlformats.org/officeDocument/2006/relationships/tableStyles" Target="tableStyles.xml" /><Relationship Id="rId4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238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7172306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5696952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5256221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78612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946355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4798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9113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3890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1566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3234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77518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428927-3806-7DFB-0F3E-DB3A81F41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020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30278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312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5D355D-7E92-7FF4-D6CA-4B1AC4C123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365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85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455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FBBAE2-7423-EB6A-E616-288CED9B30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10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609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43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402BD7-5448-8167-BF82-141ABA3D7C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063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9643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541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36397-DA96-3F73-E15A-695E928D60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857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3157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518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9ED14A-96FA-6BD6-FA0C-8B36D807DF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328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7804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762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E1461D-087D-F2DD-BBC0-4A10E9CA31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265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765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5964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A92D07-B74C-02E0-5823-89D2F0F9C6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218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3070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870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D2A134-07B4-EB7A-2DE6-5C2810D81F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608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1265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8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9532B7-1F5D-E28A-BBDB-6AC313AB3D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177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0403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3533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38ECD7-BA9E-CF3A-D732-E9D492FFD0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457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4935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156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06011E-283B-9F0E-4BA0-DB4AA884A1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103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49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6613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84DE44-B8F8-C758-E5A8-3A77B4C7F0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028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094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46917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D0B7DE-1D30-A281-0809-EEC5DF70D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954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623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301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E9E6A9-22D1-2B99-C5A2-5A5CC280F1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884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188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696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8208BB-09ED-0A67-1897-2CA9ACBEAD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95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5582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6471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2BB9C3-26F5-1D59-FF80-531106D4CE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854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1299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592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61F60-59C8-4C9C-5C3B-D850B71A32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96509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738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071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195255-4D51-1A00-9C0B-7E39DFD50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094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6361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7755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BD7105-2356-1755-F1A5-5E34BADA80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473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192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3735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4605B0-B275-EE9B-0C23-6318141A0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99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1356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362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0F2498-7A3C-B1CA-C35B-1529AB1A5C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2940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6980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3527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02135-94F6-231F-9B52-BDF0764C88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638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471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23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77AF51-9D76-12AB-E680-6E6E619CD3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038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8843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822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1C50F6-D327-2EC8-2BF6-5DEB3E1EB5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7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665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590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68C282-D740-4FA1-9E28-0FE54F85B2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861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2012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619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BFF8D6-2972-3E65-F563-55642DB1BC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8131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44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270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68883E-AD4A-3B5F-B2C0-CCE108364A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5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0191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701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71120E-F941-3EDB-BFEE-D6B76EEA98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8330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733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989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9E45D0-DDF2-EA73-1CD2-86A1683B80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910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9711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1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B3C026-1DCC-0AC4-E168-86F24517CB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93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08414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63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F2C01A-9921-E088-E43D-A943DE9D37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329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386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78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837114-3DD1-A373-BE39-F964B6AB84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273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744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380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06E092-138F-9B4A-3680-C70B38E4AF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805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4540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42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348049-DF5B-F182-1FED-AAD65BEBD3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603515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959607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511896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08647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6021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rgbClr val="24252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4049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58566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152223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27180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88523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272984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23833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871661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02059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13646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0231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698069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29207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484277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43829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285699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827664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371325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092736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332331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557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10668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2839635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7867394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736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38378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119569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363566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8534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30458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417106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46194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3890730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0843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99693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505214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49560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36959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332294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4"/>
            <a:ext cx="6172200" cy="487362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370787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143144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471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85444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784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4206798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125355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167393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64000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15778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12804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35242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2709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33936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242529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661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52487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3053528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4249470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0183977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4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5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44931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>
                <a:solidFill>
                  <a:schemeClr val="bg1"/>
                </a:solidFill>
              </a:rPr>
              <a:t>Omówienie kolokwium PP by Rycer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23525944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2759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0.1 Organizacja</a:t>
            </a:r>
            <a:endParaRPr/>
          </a:p>
        </p:txBody>
      </p:sp>
      <p:sp>
        <p:nvSpPr>
          <p:cNvPr id="1250385816" name=""/>
          <p:cNvSpPr txBox="1"/>
          <p:nvPr/>
        </p:nvSpPr>
        <p:spPr bwMode="auto">
          <a:xfrm rot="0" flipH="0" flipV="0">
            <a:off x="801483" y="1797034"/>
            <a:ext cx="1055231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Wyciszcie mikrofony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1657192622" name=""/>
          <p:cNvSpPr txBox="1"/>
          <p:nvPr/>
        </p:nvSpPr>
        <p:spPr bwMode="auto">
          <a:xfrm rot="0" flipH="0" flipV="0">
            <a:off x="796084" y="3264021"/>
            <a:ext cx="10557713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Lepiej pisać na czacie niż się odzywać na głosowym, chyba że poproszę</a:t>
            </a:r>
            <a:endParaRPr/>
          </a:p>
        </p:txBody>
      </p:sp>
      <p:sp>
        <p:nvSpPr>
          <p:cNvPr id="1965793722" name=""/>
          <p:cNvSpPr txBox="1"/>
          <p:nvPr/>
        </p:nvSpPr>
        <p:spPr bwMode="auto">
          <a:xfrm rot="0" flipH="0" flipV="0">
            <a:off x="798244" y="2315553"/>
            <a:ext cx="1055555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Zakładam że już ogólnie znacie część rzeczy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1359735449" name=""/>
          <p:cNvSpPr txBox="1"/>
          <p:nvPr/>
        </p:nvSpPr>
        <p:spPr bwMode="auto">
          <a:xfrm rot="0" flipH="0" flipV="0">
            <a:off x="798244" y="2834073"/>
            <a:ext cx="10555912" cy="90256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marR="0" lvl="0" indent="-394023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–"/>
              <a:defRPr lang="en-US" sz="2800" b="0" i="0" u="none" strike="noStrike" cap="none" spc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l-PL" sz="2800" b="0" i="0" u="none" strike="noStrike" cap="none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Mimo tego, pytajcie o wszystko czego nie rozumiecie</a:t>
            </a:r>
            <a:endParaRPr lang="pl-PL"/>
          </a:p>
          <a:p>
            <a:pPr>
              <a:defRPr/>
            </a:pPr>
            <a:endParaRPr sz="2800">
              <a:solidFill>
                <a:schemeClr val="bg1"/>
              </a:solidFill>
            </a:endParaRPr>
          </a:p>
        </p:txBody>
      </p:sp>
      <p:sp>
        <p:nvSpPr>
          <p:cNvPr id="1175903627" name=""/>
          <p:cNvSpPr txBox="1"/>
          <p:nvPr/>
        </p:nvSpPr>
        <p:spPr bwMode="auto">
          <a:xfrm rot="0" flipH="0" flipV="0">
            <a:off x="802078" y="4230597"/>
            <a:ext cx="9905181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2" indent="-394022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Wszystkie kody z prezentacji + kilka dodatkowych macie w zipie przypiętym na kanale #podstawy-programowania, będzie to też wrzucone gdzieś do paki dla potomnych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8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79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73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19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90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8816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>
                <a:solidFill>
                  <a:schemeClr val="bg1"/>
                </a:solidFill>
              </a:rPr>
              <a:t>0.2 Rozkład jazdy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452081536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351338"/>
          </a:xfrm>
        </p:spPr>
        <p:txBody>
          <a:bodyPr vertOverflow="overflow" horzOverflow="overflow" vert="horz" wrap="square" lIns="91440" tIns="45720" rIns="91440" bIns="45720" numCol="2" spcCol="0" rtlCol="0" fromWordArt="0" anchor="t" anchorCtr="0" forceAA="0" upright="0" compatLnSpc="0">
            <a:normAutofit fontScale="95000" lnSpcReduction="1000"/>
          </a:bodyPr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Wskaźniki</a:t>
            </a:r>
            <a:endParaRPr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Tablice</a:t>
            </a:r>
            <a:endParaRPr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Stringi w C</a:t>
            </a:r>
            <a:endParaRPr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malloc</a:t>
            </a:r>
            <a:endParaRPr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static</a:t>
            </a:r>
            <a:endParaRPr lang="pl-PL"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sizeof</a:t>
            </a:r>
            <a:endParaRPr lang="pl-PL"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++i vs i++</a:t>
            </a:r>
            <a:endParaRPr lang="pl-PL"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Operacje bitowe</a:t>
            </a:r>
            <a:endParaRPr lang="pl-PL"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  #define</a:t>
            </a:r>
            <a:endParaRPr lang="pl-PL"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Rekurencja/funkcje w funkcjach</a:t>
            </a:r>
            <a:endParaRPr lang="pl-PL"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 Argumenty wywołania</a:t>
            </a:r>
            <a:endParaRPr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 Zadania „uzupełnij luki”</a:t>
            </a:r>
            <a:endParaRPr lang="pl-PL"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r>
              <a:rPr lang="pl-PL">
                <a:solidFill>
                  <a:schemeClr val="bg1"/>
                </a:solidFill>
              </a:rPr>
              <a:t> Najczęstsze błędy</a:t>
            </a:r>
            <a:endParaRPr lang="pl-PL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lang="pl-PL">
                <a:solidFill>
                  <a:schemeClr val="bg1"/>
                </a:solidFill>
              </a:rPr>
              <a:t>——————————</a:t>
            </a:r>
            <a:endParaRPr lang="pl-PL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lang="pl-PL">
                <a:solidFill>
                  <a:schemeClr val="bg1"/>
                </a:solidFill>
              </a:rPr>
              <a:t>Czas bonusowy: Q&amp;A</a:t>
            </a:r>
            <a:endParaRPr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endParaRPr>
              <a:solidFill>
                <a:schemeClr val="bg1"/>
              </a:solidFill>
            </a:endParaRPr>
          </a:p>
          <a:p>
            <a:pPr marL="394023" indent="-394023">
              <a:buFont typeface="Arial"/>
              <a:buAutoNum type="arabicPeriod"/>
              <a:defRPr/>
            </a:pP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0899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1.1 Wskaźniki</a:t>
            </a:r>
            <a:endParaRPr/>
          </a:p>
        </p:txBody>
      </p:sp>
      <p:pic>
        <p:nvPicPr>
          <p:cNvPr id="19832981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4849" y="3467193"/>
            <a:ext cx="4813912" cy="3352706"/>
          </a:xfrm>
          <a:prstGeom prst="rect">
            <a:avLst/>
          </a:prstGeom>
        </p:spPr>
      </p:pic>
      <p:pic>
        <p:nvPicPr>
          <p:cNvPr id="93788686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815012" y="4571999"/>
            <a:ext cx="5762624" cy="933449"/>
          </a:xfrm>
          <a:prstGeom prst="rect">
            <a:avLst/>
          </a:prstGeom>
        </p:spPr>
      </p:pic>
      <p:sp>
        <p:nvSpPr>
          <p:cNvPr id="1409205442" name=""/>
          <p:cNvSpPr txBox="1"/>
          <p:nvPr/>
        </p:nvSpPr>
        <p:spPr bwMode="auto">
          <a:xfrm rot="0" flipH="0" flipV="0">
            <a:off x="838197" y="1690686"/>
            <a:ext cx="1055951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2" indent="-394022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Pamięć to tablica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73792420" name=""/>
          <p:cNvSpPr txBox="1"/>
          <p:nvPr/>
        </p:nvSpPr>
        <p:spPr bwMode="auto">
          <a:xfrm rot="0" flipH="0" flipV="0">
            <a:off x="839997" y="2209205"/>
            <a:ext cx="10562752" cy="4758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lvl="0" indent="-394023" algn="l" defTabSz="914400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–"/>
              <a:defRPr lang="en-US" sz="2800" b="0" i="0" u="none" strike="noStrike" cap="none" spc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l-PL" sz="2800" b="0" i="0" u="none" strike="noStrike" cap="none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Adres = indeks w tablicy &lt;- to jest wskaźnik</a:t>
            </a:r>
            <a:endParaRPr lang="pl-PL"/>
          </a:p>
        </p:txBody>
      </p:sp>
      <p:sp>
        <p:nvSpPr>
          <p:cNvPr id="1007536808" name=""/>
          <p:cNvSpPr txBox="1"/>
          <p:nvPr/>
        </p:nvSpPr>
        <p:spPr bwMode="auto">
          <a:xfrm rot="0" flipH="0" flipV="0">
            <a:off x="839997" y="2674914"/>
            <a:ext cx="1056023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2" indent="-394022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Wartość = wartość pod indeksem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20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53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29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88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7287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1.2 Wskaźniki</a:t>
            </a:r>
            <a:endParaRPr/>
          </a:p>
        </p:txBody>
      </p:sp>
      <p:sp>
        <p:nvSpPr>
          <p:cNvPr id="52982917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299431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8198" y="1934368"/>
            <a:ext cx="5172074" cy="4133849"/>
          </a:xfrm>
          <a:prstGeom prst="rect">
            <a:avLst/>
          </a:prstGeom>
        </p:spPr>
      </p:pic>
      <p:pic>
        <p:nvPicPr>
          <p:cNvPr id="145680526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68995" y="4620070"/>
            <a:ext cx="5991224" cy="1257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80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8905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2.1 Tablice	</a:t>
            </a:r>
            <a:endParaRPr/>
          </a:p>
        </p:txBody>
      </p:sp>
      <p:sp>
        <p:nvSpPr>
          <p:cNvPr id="1704260275" name=""/>
          <p:cNvSpPr txBox="1"/>
          <p:nvPr/>
        </p:nvSpPr>
        <p:spPr bwMode="auto">
          <a:xfrm rot="0" flipH="0" flipV="0">
            <a:off x="847072" y="3246246"/>
            <a:ext cx="1050708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(tab + 1) == tab[1]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865079377" name=""/>
          <p:cNvSpPr txBox="1"/>
          <p:nvPr/>
        </p:nvSpPr>
        <p:spPr bwMode="auto">
          <a:xfrm rot="0" flipH="0" flipV="0">
            <a:off x="837119" y="2727725"/>
            <a:ext cx="10508164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3" indent="-371993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int tab[100] -&gt; tab to wskaźnik na pierwszy element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1692712972" name=""/>
          <p:cNvSpPr txBox="1"/>
          <p:nvPr/>
        </p:nvSpPr>
        <p:spPr bwMode="auto">
          <a:xfrm rot="0" flipH="0" flipV="0">
            <a:off x="838197" y="2209205"/>
            <a:ext cx="1050888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3" indent="-371993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Po tym obszarze można jeździć wskaźnikiem</a:t>
            </a:r>
            <a:endParaRPr sz="2800">
              <a:solidFill>
                <a:schemeClr val="bg1"/>
              </a:solidFill>
            </a:endParaRPr>
          </a:p>
        </p:txBody>
      </p:sp>
      <p:sp>
        <p:nvSpPr>
          <p:cNvPr id="128376434" name=""/>
          <p:cNvSpPr txBox="1"/>
          <p:nvPr/>
        </p:nvSpPr>
        <p:spPr bwMode="auto">
          <a:xfrm rot="0" flipH="0" flipV="0">
            <a:off x="837119" y="1690686"/>
            <a:ext cx="1052076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3" indent="-371993">
              <a:buFont typeface="Arial"/>
              <a:buChar char="–"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Tablica to ciągły obszar pamięci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7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71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07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26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6936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2.2 Tablice</a:t>
            </a:r>
            <a:endParaRPr/>
          </a:p>
        </p:txBody>
      </p:sp>
      <p:sp>
        <p:nvSpPr>
          <p:cNvPr id="149832215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4847390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67487" y="2143489"/>
            <a:ext cx="5530237" cy="3715608"/>
          </a:xfrm>
          <a:prstGeom prst="rect">
            <a:avLst/>
          </a:prstGeom>
        </p:spPr>
      </p:pic>
      <p:pic>
        <p:nvPicPr>
          <p:cNvPr id="162344995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524" y="2032635"/>
            <a:ext cx="6154124" cy="39373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73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5049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2.3 Tablice	</a:t>
            </a:r>
            <a:endParaRPr/>
          </a:p>
        </p:txBody>
      </p:sp>
      <p:sp>
        <p:nvSpPr>
          <p:cNvPr id="8435059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7623" y="1590674"/>
            <a:ext cx="11306174" cy="4586287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pl-PL"/>
              <a:t>Uwaga na arytmetykę wskaźników: 1 != 1</a:t>
            </a:r>
            <a:endParaRPr/>
          </a:p>
        </p:txBody>
      </p:sp>
      <p:pic>
        <p:nvPicPr>
          <p:cNvPr id="2681058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7623" y="2400299"/>
            <a:ext cx="6765263" cy="4586287"/>
          </a:xfrm>
          <a:prstGeom prst="rect">
            <a:avLst/>
          </a:prstGeom>
        </p:spPr>
      </p:pic>
      <p:pic>
        <p:nvPicPr>
          <p:cNvPr id="1233061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685018" y="0"/>
            <a:ext cx="448006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1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0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3254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3.1 Stringi w C</a:t>
            </a:r>
            <a:endParaRPr/>
          </a:p>
        </p:txBody>
      </p:sp>
      <p:sp>
        <p:nvSpPr>
          <p:cNvPr id="60672687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889445"/>
          </a:xfrm>
        </p:spPr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String to tablica charów zakończona znakiem bajtu zerowego (‘\0’)</a:t>
            </a:r>
            <a:endParaRPr lang="pl-PL"/>
          </a:p>
        </p:txBody>
      </p:sp>
      <p:pic>
        <p:nvPicPr>
          <p:cNvPr id="9853544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099" y="3429000"/>
            <a:ext cx="12115800" cy="2419349"/>
          </a:xfrm>
          <a:prstGeom prst="rect">
            <a:avLst/>
          </a:prstGeom>
        </p:spPr>
      </p:pic>
      <p:sp>
        <p:nvSpPr>
          <p:cNvPr id="678869827" name="Content Placeholder 2"/>
          <p:cNvSpPr>
            <a:spLocks noGrp="1"/>
          </p:cNvSpPr>
          <p:nvPr/>
        </p:nvSpPr>
        <p:spPr bwMode="auto">
          <a:xfrm flipH="0" flipV="0">
            <a:off x="838197" y="2715069"/>
            <a:ext cx="10515600" cy="889445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2. Jak wiemy po tej tablicy można jeździć wskaźnikiem</a:t>
            </a:r>
            <a:endParaRPr lang="pl-P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72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86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5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851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3.1 Stringi w C</a:t>
            </a:r>
            <a:endParaRPr/>
          </a:p>
        </p:txBody>
      </p:sp>
      <p:sp>
        <p:nvSpPr>
          <p:cNvPr id="136738704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5571966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8099" y="1397903"/>
            <a:ext cx="12115800" cy="2419349"/>
          </a:xfrm>
          <a:prstGeom prst="rect">
            <a:avLst/>
          </a:prstGeom>
        </p:spPr>
      </p:pic>
      <p:pic>
        <p:nvPicPr>
          <p:cNvPr id="79169114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233735" y="5074065"/>
            <a:ext cx="5724524" cy="1552574"/>
          </a:xfrm>
          <a:prstGeom prst="rect">
            <a:avLst/>
          </a:prstGeom>
        </p:spPr>
      </p:pic>
      <p:pic>
        <p:nvPicPr>
          <p:cNvPr id="16724238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0" y="3899018"/>
            <a:ext cx="12153899" cy="1057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6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8322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4.1 malloc</a:t>
            </a:r>
            <a:endParaRPr/>
          </a:p>
        </p:txBody>
      </p:sp>
      <p:sp>
        <p:nvSpPr>
          <p:cNvPr id="203001951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533977"/>
          </a:xfrm>
        </p:spPr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malloc przydziela pamięć na stercie</a:t>
            </a:r>
            <a:endParaRPr lang="pl-PL"/>
          </a:p>
        </p:txBody>
      </p:sp>
      <p:sp>
        <p:nvSpPr>
          <p:cNvPr id="4248044" name="Content Placeholder 2"/>
          <p:cNvSpPr>
            <a:spLocks noGrp="1"/>
          </p:cNvSpPr>
          <p:nvPr/>
        </p:nvSpPr>
        <p:spPr bwMode="auto">
          <a:xfrm flipH="0" flipV="0">
            <a:off x="838197" y="2359602"/>
            <a:ext cx="10515600" cy="533977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2.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 pamięć to tablica</a:t>
            </a:r>
            <a:endParaRPr lang="pl-PL"/>
          </a:p>
        </p:txBody>
      </p:sp>
      <p:sp>
        <p:nvSpPr>
          <p:cNvPr id="270606279" name="Content Placeholder 2"/>
          <p:cNvSpPr>
            <a:spLocks noGrp="1"/>
          </p:cNvSpPr>
          <p:nvPr/>
        </p:nvSpPr>
        <p:spPr bwMode="auto">
          <a:xfrm flipH="0" flipV="0">
            <a:off x="838197" y="2893579"/>
            <a:ext cx="10515600" cy="533977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3.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Po tablicy można jeździć wskaźnikiem</a:t>
            </a:r>
            <a:endParaRPr lang="pl-P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0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8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60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2264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3081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1106572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26565" y="3401217"/>
            <a:ext cx="5261002" cy="600075"/>
          </a:xfrm>
          <a:prstGeom prst="rect">
            <a:avLst/>
          </a:prstGeom>
        </p:spPr>
      </p:pic>
      <p:pic>
        <p:nvPicPr>
          <p:cNvPr id="125518757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90499" y="65484"/>
            <a:ext cx="4882159" cy="6727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18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65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3124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5.1 static</a:t>
            </a:r>
            <a:endParaRPr/>
          </a:p>
        </p:txBody>
      </p:sp>
      <p:sp>
        <p:nvSpPr>
          <p:cNvPr id="147067778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924719"/>
          </a:xfrm>
        </p:spPr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Dla was na te kolokwium static oznacza zmienną przeżywającą wyjście z funkcji (czyli nie ma resetu wartości)</a:t>
            </a:r>
            <a:endParaRPr lang="pl-PL"/>
          </a:p>
        </p:txBody>
      </p:sp>
      <p:sp>
        <p:nvSpPr>
          <p:cNvPr id="198704987" name="Content Placeholder 2"/>
          <p:cNvSpPr>
            <a:spLocks noGrp="1"/>
          </p:cNvSpPr>
          <p:nvPr/>
        </p:nvSpPr>
        <p:spPr bwMode="auto">
          <a:xfrm flipH="0" flipV="0">
            <a:off x="838197" y="2750343"/>
            <a:ext cx="10515600" cy="924718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2. Ta zmienna nie jest globalna (nie widać jej poza blokiem deklarującym ją), ale się podobnie zachowuje</a:t>
            </a:r>
            <a:endParaRPr lang="pl-P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67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3320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940811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001651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2341" y="202643"/>
            <a:ext cx="4804534" cy="6502249"/>
          </a:xfrm>
          <a:prstGeom prst="rect">
            <a:avLst/>
          </a:prstGeom>
        </p:spPr>
      </p:pic>
      <p:pic>
        <p:nvPicPr>
          <p:cNvPr id="124701445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8" y="2334580"/>
            <a:ext cx="5905499" cy="2238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01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6639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6.1 sizeof</a:t>
            </a:r>
            <a:endParaRPr/>
          </a:p>
        </p:txBody>
      </p:sp>
      <p:sp>
        <p:nvSpPr>
          <p:cNvPr id="70798280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4603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sizeof jest obliczany na etapie kompilacji</a:t>
            </a:r>
            <a:endParaRPr lang="pl-PL"/>
          </a:p>
        </p:txBody>
      </p:sp>
      <p:sp>
        <p:nvSpPr>
          <p:cNvPr id="1259266027" name="Content Placeholder 2"/>
          <p:cNvSpPr>
            <a:spLocks noGrp="1"/>
          </p:cNvSpPr>
          <p:nvPr/>
        </p:nvSpPr>
        <p:spPr bwMode="auto">
          <a:xfrm flipH="0" flipV="0">
            <a:off x="838197" y="2285999"/>
            <a:ext cx="10515600" cy="82153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2.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sizeof przy mallocu zwraca rozmiar wskaźnika a nie przydzielonego obszaru</a:t>
            </a:r>
            <a:endParaRPr lang="pl-PL"/>
          </a:p>
        </p:txBody>
      </p:sp>
      <p:sp>
        <p:nvSpPr>
          <p:cNvPr id="1761533926" name="Content Placeholder 2"/>
          <p:cNvSpPr>
            <a:spLocks noGrp="1"/>
          </p:cNvSpPr>
          <p:nvPr/>
        </p:nvSpPr>
        <p:spPr bwMode="auto">
          <a:xfrm flipH="0" flipV="0">
            <a:off x="838197" y="3107531"/>
            <a:ext cx="10515600" cy="8215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3.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Tak samo przy dorobieniu wskaźnika do tablicy o znanym rozmiarze</a:t>
            </a:r>
            <a:endParaRPr lang="pl-PL"/>
          </a:p>
        </p:txBody>
      </p:sp>
      <p:sp>
        <p:nvSpPr>
          <p:cNvPr id="574706986" name="Content Placeholder 2"/>
          <p:cNvSpPr>
            <a:spLocks noGrp="1"/>
          </p:cNvSpPr>
          <p:nvPr/>
        </p:nvSpPr>
        <p:spPr bwMode="auto">
          <a:xfrm flipH="0" flipV="0">
            <a:off x="838197" y="3929061"/>
            <a:ext cx="10515600" cy="8215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4. sizeof przy tablicy o znanym rozmiarze typu int tab[100] zwróci ten rozmiar * rozmiar typu</a:t>
            </a:r>
            <a:endParaRPr lang="pl-P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8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26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3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70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720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6.2 sizeof</a:t>
            </a:r>
            <a:endParaRPr/>
          </a:p>
        </p:txBody>
      </p:sp>
      <p:sp>
        <p:nvSpPr>
          <p:cNvPr id="7349027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7364874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398333"/>
            <a:ext cx="9639299" cy="4295774"/>
          </a:xfrm>
          <a:prstGeom prst="rect">
            <a:avLst/>
          </a:prstGeom>
        </p:spPr>
      </p:pic>
      <p:pic>
        <p:nvPicPr>
          <p:cNvPr id="3654932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14415" y="5305661"/>
            <a:ext cx="6400800" cy="1304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49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472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6.3 sizeof</a:t>
            </a:r>
            <a:endParaRPr/>
          </a:p>
        </p:txBody>
      </p:sp>
      <p:sp>
        <p:nvSpPr>
          <p:cNvPr id="19538467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780777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1330" y="1690686"/>
            <a:ext cx="8391524" cy="2705099"/>
          </a:xfrm>
          <a:prstGeom prst="rect">
            <a:avLst/>
          </a:prstGeom>
        </p:spPr>
      </p:pic>
      <p:pic>
        <p:nvPicPr>
          <p:cNvPr id="129882165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638389" y="4726892"/>
            <a:ext cx="4772025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82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6373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6.4 sizeof</a:t>
            </a:r>
            <a:endParaRPr/>
          </a:p>
        </p:txBody>
      </p:sp>
      <p:sp>
        <p:nvSpPr>
          <p:cNvPr id="42089068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949496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050280" y="5503803"/>
            <a:ext cx="4709999" cy="1249437"/>
          </a:xfrm>
          <a:prstGeom prst="rect">
            <a:avLst/>
          </a:prstGeom>
        </p:spPr>
      </p:pic>
      <p:pic>
        <p:nvPicPr>
          <p:cNvPr id="88197802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0" y="1723197"/>
            <a:ext cx="7905771" cy="3658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4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6975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6.5 sizeof</a:t>
            </a:r>
            <a:endParaRPr/>
          </a:p>
        </p:txBody>
      </p:sp>
      <p:sp>
        <p:nvSpPr>
          <p:cNvPr id="1097168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Structy nie mają określonego rozmiaru ze względu na alignment w kompilatorze!</a:t>
            </a:r>
            <a:endParaRPr/>
          </a:p>
        </p:txBody>
      </p:sp>
      <p:pic>
        <p:nvPicPr>
          <p:cNvPr id="16704564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7055" y="3275887"/>
            <a:ext cx="5448299" cy="2666999"/>
          </a:xfrm>
          <a:prstGeom prst="rect">
            <a:avLst/>
          </a:prstGeom>
        </p:spPr>
      </p:pic>
      <p:pic>
        <p:nvPicPr>
          <p:cNvPr id="193430211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890046" y="4388621"/>
            <a:ext cx="3219449" cy="600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456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0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200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7.1 ++i vs i++</a:t>
            </a:r>
            <a:endParaRPr/>
          </a:p>
        </p:txBody>
      </p:sp>
      <p:sp>
        <p:nvSpPr>
          <p:cNvPr id="195925368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460375"/>
          </a:xfrm>
        </p:spPr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++i zwiększa zmienną „i” PRZED obliczeniem wyrażenia</a:t>
            </a:r>
            <a:endParaRPr lang="pl-PL"/>
          </a:p>
        </p:txBody>
      </p:sp>
      <p:sp>
        <p:nvSpPr>
          <p:cNvPr id="1037871308" name="Content Placeholder 2"/>
          <p:cNvSpPr>
            <a:spLocks noGrp="1"/>
          </p:cNvSpPr>
          <p:nvPr/>
        </p:nvSpPr>
        <p:spPr bwMode="auto">
          <a:xfrm flipH="0" flipV="0">
            <a:off x="838197" y="2286000"/>
            <a:ext cx="10515600" cy="46037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2.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i++ zwiększa zmienną „i” PO obliczeniu wyrażenia</a:t>
            </a:r>
            <a:endParaRPr lang="pl-PL"/>
          </a:p>
        </p:txBody>
      </p:sp>
      <p:sp>
        <p:nvSpPr>
          <p:cNvPr id="1692757309" name="Content Placeholder 2"/>
          <p:cNvSpPr>
            <a:spLocks noGrp="1"/>
          </p:cNvSpPr>
          <p:nvPr/>
        </p:nvSpPr>
        <p:spPr bwMode="auto">
          <a:xfrm flipH="0" flipV="0">
            <a:off x="838197" y="2746374"/>
            <a:ext cx="10515600" cy="46037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3.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tab[i++] == tab[i], tylko się jeszcze „i” zwiększa po lewej</a:t>
            </a:r>
            <a:endParaRPr lang="pl-PL"/>
          </a:p>
        </p:txBody>
      </p:sp>
      <p:sp>
        <p:nvSpPr>
          <p:cNvPr id="214582024" name="Content Placeholder 2"/>
          <p:cNvSpPr>
            <a:spLocks noGrp="1"/>
          </p:cNvSpPr>
          <p:nvPr/>
        </p:nvSpPr>
        <p:spPr bwMode="auto">
          <a:xfrm flipH="0" flipV="0">
            <a:off x="838197" y="3206749"/>
            <a:ext cx="10515600" cy="46037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4.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tab[++i] jest niezdefiniowane</a:t>
            </a:r>
            <a:endParaRPr lang="pl-PL"/>
          </a:p>
        </p:txBody>
      </p:sp>
      <p:sp>
        <p:nvSpPr>
          <p:cNvPr id="2109822095" name="Content Placeholder 2"/>
          <p:cNvSpPr>
            <a:spLocks noGrp="1"/>
          </p:cNvSpPr>
          <p:nvPr/>
        </p:nvSpPr>
        <p:spPr bwMode="auto">
          <a:xfrm flipH="0" flipV="0">
            <a:off x="838197" y="3667124"/>
            <a:ext cx="10515600" cy="90487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5. </a:t>
            </a:r>
            <a:r>
              <a:rPr lang="pl-PL" sz="28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sizeof(i++) i sizeof(++i) nie mają wpływu na wartość „i” bo sizeof jest obliczany podczas kompilacji</a:t>
            </a:r>
            <a:endParaRPr lang="pl-P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253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87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75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8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2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084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7.2 ++i vs i++</a:t>
            </a:r>
            <a:endParaRPr/>
          </a:p>
        </p:txBody>
      </p:sp>
      <p:sp>
        <p:nvSpPr>
          <p:cNvPr id="4216622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4827248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22546" y="1433200"/>
            <a:ext cx="8429625" cy="4991099"/>
          </a:xfrm>
          <a:prstGeom prst="rect">
            <a:avLst/>
          </a:prstGeom>
        </p:spPr>
      </p:pic>
      <p:pic>
        <p:nvPicPr>
          <p:cNvPr id="97038556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37476" y="3809999"/>
            <a:ext cx="3067049" cy="485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72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38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36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7.3 ++i vs i++</a:t>
            </a:r>
            <a:endParaRPr/>
          </a:p>
        </p:txBody>
      </p:sp>
      <p:sp>
        <p:nvSpPr>
          <p:cNvPr id="2924216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815141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13644" y="1737414"/>
            <a:ext cx="8915400" cy="4848224"/>
          </a:xfrm>
          <a:prstGeom prst="rect">
            <a:avLst/>
          </a:prstGeom>
        </p:spPr>
      </p:pic>
      <p:pic>
        <p:nvPicPr>
          <p:cNvPr id="10375615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213434" y="3899589"/>
            <a:ext cx="2819399" cy="523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1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56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9318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8.1 Operacje bitowe</a:t>
            </a:r>
            <a:endParaRPr/>
          </a:p>
        </p:txBody>
      </p:sp>
      <p:sp>
        <p:nvSpPr>
          <p:cNvPr id="10152557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Operacje bitowe działają tak samo jak zwykłe arytmetyczne, tzn. a &gt;&gt; 2 nie zmieni wartości „a”, ale a = a &gt;&gt; 2 już tak</a:t>
            </a:r>
            <a:endParaRPr lang="pl-PL"/>
          </a:p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^ to XOR</a:t>
            </a:r>
            <a:endParaRPr lang="pl-PL"/>
          </a:p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&amp; to AND</a:t>
            </a:r>
            <a:endParaRPr lang="pl-PL"/>
          </a:p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| to OR</a:t>
            </a:r>
            <a:endParaRPr lang="pl-PL"/>
          </a:p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~ to NOT</a:t>
            </a:r>
            <a:endParaRPr lang="pl-PL"/>
          </a:p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&gt;&gt; x to dzielenie przez 2^x (uwaga na overflow)</a:t>
            </a:r>
            <a:endParaRPr lang="pl-PL"/>
          </a:p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&lt;&lt; x to mnożenie przez 2^x (uwaga na overflow)</a:t>
            </a:r>
            <a:endParaRPr lang="pl-P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25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0225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8.2 Operacje bitowe</a:t>
            </a:r>
            <a:endParaRPr/>
          </a:p>
        </p:txBody>
      </p:sp>
      <p:sp>
        <p:nvSpPr>
          <p:cNvPr id="10168247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2001772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4906" y="1370086"/>
            <a:ext cx="7799618" cy="3465586"/>
          </a:xfrm>
          <a:prstGeom prst="rect">
            <a:avLst/>
          </a:prstGeom>
        </p:spPr>
      </p:pic>
      <p:pic>
        <p:nvPicPr>
          <p:cNvPr id="80153134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4906" y="5038457"/>
            <a:ext cx="4695824" cy="590549"/>
          </a:xfrm>
          <a:prstGeom prst="rect">
            <a:avLst/>
          </a:prstGeom>
        </p:spPr>
      </p:pic>
      <p:pic>
        <p:nvPicPr>
          <p:cNvPr id="52260315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857429" y="5219432"/>
            <a:ext cx="2676524" cy="40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01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53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88576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9.1 #define</a:t>
            </a:r>
            <a:endParaRPr/>
          </a:p>
        </p:txBody>
      </p:sp>
      <p:sp>
        <p:nvSpPr>
          <p:cNvPr id="98359565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Define po prostu kopiuje i wstawia wasz tekst tam gdzie chcecie, potem to już jest problem kompilatora</a:t>
            </a:r>
            <a:endParaRPr/>
          </a:p>
        </p:txBody>
      </p:sp>
      <p:pic>
        <p:nvPicPr>
          <p:cNvPr id="163620652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3364" y="2706166"/>
            <a:ext cx="5885046" cy="4001528"/>
          </a:xfrm>
          <a:prstGeom prst="rect">
            <a:avLst/>
          </a:prstGeom>
        </p:spPr>
      </p:pic>
      <p:pic>
        <p:nvPicPr>
          <p:cNvPr id="163607306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775233" y="3411532"/>
            <a:ext cx="5422149" cy="2590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9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20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0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354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9.2 #define</a:t>
            </a:r>
            <a:endParaRPr/>
          </a:p>
        </p:txBody>
      </p:sp>
      <p:sp>
        <p:nvSpPr>
          <p:cNvPr id="17448175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376154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33527" y="2136448"/>
            <a:ext cx="7603107" cy="4619624"/>
          </a:xfrm>
          <a:prstGeom prst="rect">
            <a:avLst/>
          </a:prstGeom>
        </p:spPr>
      </p:pic>
      <p:pic>
        <p:nvPicPr>
          <p:cNvPr id="5624936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474579" y="5879016"/>
            <a:ext cx="3382932" cy="877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61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49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6755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10.1 Rekurencja/funkcje w funkcjach – podaj zawartość „a”</a:t>
            </a:r>
            <a:endParaRPr/>
          </a:p>
        </p:txBody>
      </p:sp>
      <p:sp>
        <p:nvSpPr>
          <p:cNvPr id="9027813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6186041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85783" y="1913901"/>
            <a:ext cx="2724650" cy="4566569"/>
          </a:xfrm>
          <a:prstGeom prst="rect">
            <a:avLst/>
          </a:prstGeom>
        </p:spPr>
      </p:pic>
      <p:pic>
        <p:nvPicPr>
          <p:cNvPr id="150892770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338060" y="2287424"/>
            <a:ext cx="2695574" cy="3819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60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9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635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10.2 Rekurencja/funkcje w funkcjach</a:t>
            </a:r>
            <a:endParaRPr/>
          </a:p>
        </p:txBody>
      </p:sp>
      <p:sp>
        <p:nvSpPr>
          <p:cNvPr id="15003912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8692794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38270" y="2047429"/>
            <a:ext cx="5858340" cy="3573868"/>
          </a:xfrm>
          <a:prstGeom prst="rect">
            <a:avLst/>
          </a:prstGeom>
        </p:spPr>
      </p:pic>
      <p:pic>
        <p:nvPicPr>
          <p:cNvPr id="55913041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999789" y="3952429"/>
            <a:ext cx="3047999" cy="94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27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1670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11.1 Argumenty wywołania</a:t>
            </a:r>
            <a:endParaRPr/>
          </a:p>
        </p:txBody>
      </p:sp>
      <p:sp>
        <p:nvSpPr>
          <p:cNvPr id="6094410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2161396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13812" y="1672173"/>
            <a:ext cx="5855953" cy="2553225"/>
          </a:xfrm>
          <a:prstGeom prst="rect">
            <a:avLst/>
          </a:prstGeom>
        </p:spPr>
      </p:pic>
      <p:pic>
        <p:nvPicPr>
          <p:cNvPr id="115093816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41772" y="1672173"/>
            <a:ext cx="6026054" cy="3513652"/>
          </a:xfrm>
          <a:prstGeom prst="rect">
            <a:avLst/>
          </a:prstGeom>
        </p:spPr>
      </p:pic>
      <p:pic>
        <p:nvPicPr>
          <p:cNvPr id="149002279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024361" y="5025250"/>
            <a:ext cx="8486929" cy="18469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93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02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4797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11.2 Argumenty wywołania</a:t>
            </a:r>
            <a:endParaRPr/>
          </a:p>
        </p:txBody>
      </p:sp>
      <p:sp>
        <p:nvSpPr>
          <p:cNvPr id="20766783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6955561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44513" y="1380530"/>
            <a:ext cx="11502969" cy="4608288"/>
          </a:xfrm>
          <a:prstGeom prst="rect">
            <a:avLst/>
          </a:prstGeom>
        </p:spPr>
      </p:pic>
      <p:pic>
        <p:nvPicPr>
          <p:cNvPr id="39748861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25210" y="5988817"/>
            <a:ext cx="3019424" cy="971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55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48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9413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12.1 Uzupełnij luki</a:t>
            </a:r>
            <a:endParaRPr/>
          </a:p>
        </p:txBody>
      </p:sp>
      <p:sp>
        <p:nvSpPr>
          <p:cNvPr id="7272643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4937579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09327" y="1934928"/>
            <a:ext cx="11573340" cy="41327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75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7966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12.1 Uzupełnij luki</a:t>
            </a:r>
            <a:endParaRPr/>
          </a:p>
        </p:txBody>
      </p:sp>
      <p:sp>
        <p:nvSpPr>
          <p:cNvPr id="5546834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2371371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50361" y="1969209"/>
            <a:ext cx="11291275" cy="4064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6674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12.2 </a:t>
            </a:r>
            <a:r>
              <a:rPr lang="pl-PL" u="none"/>
              <a:t>Uzupełnij luki</a:t>
            </a:r>
            <a:endParaRPr u="none"/>
          </a:p>
        </p:txBody>
      </p:sp>
      <p:sp>
        <p:nvSpPr>
          <p:cNvPr id="5499824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21383638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99139" y="1623054"/>
            <a:ext cx="10554657" cy="4756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36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8174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12.2 </a:t>
            </a:r>
            <a:r>
              <a:rPr lang="pl-PL" u="none"/>
              <a:t>Uzupełnij luki</a:t>
            </a:r>
            <a:endParaRPr u="none"/>
          </a:p>
        </p:txBody>
      </p:sp>
      <p:sp>
        <p:nvSpPr>
          <p:cNvPr id="16193804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216025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24042" y="1690686"/>
            <a:ext cx="11050047" cy="49677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8745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13.1 Najczęstsze błędy</a:t>
            </a:r>
            <a:endParaRPr/>
          </a:p>
        </p:txBody>
      </p:sp>
      <p:sp>
        <p:nvSpPr>
          <p:cNvPr id="172615178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10515600" cy="479959"/>
          </a:xfrm>
        </p:spPr>
        <p:txBody>
          <a:bodyPr/>
          <a:lstStyle/>
          <a:p>
            <a:pPr marL="394023" indent="-394023">
              <a:buFont typeface="Arial"/>
              <a:buAutoNum type="arabicPeriod"/>
              <a:defRPr/>
            </a:pPr>
            <a:r>
              <a:rPr lang="pl-PL"/>
              <a:t>Zła kolejność wypisywania przy rekurencji</a:t>
            </a:r>
            <a:endParaRPr/>
          </a:p>
        </p:txBody>
      </p:sp>
      <p:sp>
        <p:nvSpPr>
          <p:cNvPr id="328766704" name="Content Placeholder 2"/>
          <p:cNvSpPr>
            <a:spLocks noGrp="1"/>
          </p:cNvSpPr>
          <p:nvPr/>
        </p:nvSpPr>
        <p:spPr bwMode="auto">
          <a:xfrm flipH="0" flipV="0">
            <a:off x="838197" y="2305584"/>
            <a:ext cx="10515600" cy="479959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pl-PL"/>
              <a:t>2. sizeof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15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6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3437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14.1 Q&amp;A</a:t>
            </a:r>
            <a:endParaRPr/>
          </a:p>
        </p:txBody>
      </p:sp>
      <p:sp>
        <p:nvSpPr>
          <p:cNvPr id="2516503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pl-PL"/>
              <a:t>Teraz można mówić głosowo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36</Slides>
  <Notes>36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modified xsi:type="dcterms:W3CDTF">2025-11-07T18:28:26Z</dcterms:modified>
</cp:coreProperties>
</file>